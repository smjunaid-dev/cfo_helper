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</p:sldIdLst>
  <p:sldSz cx="9144000" cy="5143500" type="screen16x9"/>
  <p:notesSz cx="6858000" cy="9144000"/>
  <p:embeddedFontLst>
    <p:embeddedFont>
      <p:font typeface="Bell MT" panose="02020503060305020303" pitchFamily="18" charset="0"/>
      <p:regular r:id="rId11"/>
      <p:bold r:id="rId12"/>
      <p:italic r:id="rId13"/>
    </p:embeddedFont>
    <p:embeddedFont>
      <p:font typeface="IBM Plex Mono" panose="020B0509050203000203" pitchFamily="49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roxima Nova" panose="020B0604020202020204" charset="0"/>
      <p:regular r:id="rId26"/>
      <p:bold r:id="rId27"/>
      <p:italic r:id="rId28"/>
      <p:boldItalic r:id="rId29"/>
    </p:embeddedFont>
    <p:embeddedFont>
      <p:font typeface="PT Sans" panose="020B0503020203020204" pitchFamily="34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italic r:id="rId35"/>
    </p:embeddedFont>
    <p:embeddedFont>
      <p:font typeface="Source Code Pro" panose="020B0509030403020204" pitchFamily="49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B744D-3797-4EA2-95F6-0DEDB5911AC8}" v="28" dt="2025-09-22T10:22:37.639"/>
  </p1510:revLst>
</p1510:revInfo>
</file>

<file path=ppt/tableStyles.xml><?xml version="1.0" encoding="utf-8"?>
<a:tblStyleLst xmlns:a="http://schemas.openxmlformats.org/drawingml/2006/main" def="{E03A9CD7-EE11-4914-8D37-5E5D7ADDEBD0}">
  <a:tblStyle styleId="{E03A9CD7-EE11-4914-8D37-5E5D7ADDEB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9" Type="http://schemas.openxmlformats.org/officeDocument/2006/relationships/font" Target="fonts/font29.fntdata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font" Target="fonts/font27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font" Target="fonts/font26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font" Target="fonts/font25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font" Target="fonts/font2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t="17657" b="17663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>
            <a:spLocks noGrp="1"/>
          </p:cNvSpPr>
          <p:nvPr>
            <p:ph type="subTitle" idx="1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>
            <a:spLocks noGrp="1"/>
          </p:cNvSpPr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ubTitle" idx="1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rot="8100000" flipH="1">
              <a:off x="3778999" y="-2106462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rot="-2700000" flipH="1">
              <a:off x="3192849" y="-2898537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rot="10800000" flipH="1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rot="-3320950" flipH="1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rot="-2700000" flipH="1">
              <a:off x="249333" y="3270782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rot="2700000" flipH="1">
                <a:off x="-1073899" y="4736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rot="-2700000" flipH="1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0_1_1_1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rot="10800000" flipH="1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rot="5400000" flipH="1">
              <a:off x="6551329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0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1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rot="-8100000" flipH="1">
              <a:off x="7249845" y="-719557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3" name="Google Shape;92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22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25" name="Google Shape;925;p22"/>
          <p:cNvSpPr txBox="1">
            <a:spLocks noGrp="1"/>
          </p:cNvSpPr>
          <p:nvPr>
            <p:ph type="body" idx="2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10800000" flipH="1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23"/>
          <p:cNvSpPr txBox="1">
            <a:spLocks noGrp="1"/>
          </p:cNvSpPr>
          <p:nvPr>
            <p:ph type="subTitle" idx="1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6" name="Google Shape;976;p23"/>
          <p:cNvSpPr txBox="1">
            <a:spLocks noGrp="1"/>
          </p:cNvSpPr>
          <p:nvPr>
            <p:ph type="subTitle" idx="2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7" name="Google Shape;977;p23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8" name="Google Shape;978;p23"/>
          <p:cNvSpPr txBox="1">
            <a:spLocks noGrp="1"/>
          </p:cNvSpPr>
          <p:nvPr>
            <p:ph type="subTitle" idx="4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979" name="Google Shape;979;p23"/>
          <p:cNvGrpSpPr/>
          <p:nvPr/>
        </p:nvGrpSpPr>
        <p:grpSpPr>
          <a:xfrm rot="-5400000" flipH="1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l="16960" t="24718" r="7121" b="26177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7" name="Google Shape;1117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8" name="Google Shape;1118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9" name="Google Shape;1119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0" name="Google Shape;1120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1" name="Google Shape;1121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8" name="Google Shape;1168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1" name="Google Shape;1171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2" name="Google Shape;1172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3" name="Google Shape;1173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7" name="Google Shape;1217;p27"/>
          <p:cNvSpPr txBox="1">
            <a:spLocks noGrp="1"/>
          </p:cNvSpPr>
          <p:nvPr>
            <p:ph type="subTitle" idx="1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8" name="Google Shape;1218;p27"/>
          <p:cNvSpPr txBox="1">
            <a:spLocks noGrp="1"/>
          </p:cNvSpPr>
          <p:nvPr>
            <p:ph type="subTitle" idx="2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9" name="Google Shape;1219;p27"/>
          <p:cNvSpPr txBox="1">
            <a:spLocks noGrp="1"/>
          </p:cNvSpPr>
          <p:nvPr>
            <p:ph type="subTitle" idx="3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0" name="Google Shape;1220;p27"/>
          <p:cNvSpPr txBox="1">
            <a:spLocks noGrp="1"/>
          </p:cNvSpPr>
          <p:nvPr>
            <p:ph type="subTitle" idx="4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1" name="Google Shape;1221;p27"/>
          <p:cNvSpPr txBox="1">
            <a:spLocks noGrp="1"/>
          </p:cNvSpPr>
          <p:nvPr>
            <p:ph type="subTitle" idx="5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2" name="Google Shape;1222;p27"/>
          <p:cNvSpPr txBox="1">
            <a:spLocks noGrp="1"/>
          </p:cNvSpPr>
          <p:nvPr>
            <p:ph type="subTitle" idx="6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27"/>
          <p:cNvSpPr txBox="1">
            <a:spLocks noGrp="1"/>
          </p:cNvSpPr>
          <p:nvPr>
            <p:ph type="subTitle" idx="7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4" name="Google Shape;1224;p27"/>
          <p:cNvSpPr txBox="1">
            <a:spLocks noGrp="1"/>
          </p:cNvSpPr>
          <p:nvPr>
            <p:ph type="subTitle" idx="8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5" name="Google Shape;1225;p27"/>
          <p:cNvSpPr txBox="1">
            <a:spLocks noGrp="1"/>
          </p:cNvSpPr>
          <p:nvPr>
            <p:ph type="subTitle" idx="9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6" name="Google Shape;1226;p27"/>
          <p:cNvSpPr txBox="1">
            <a:spLocks noGrp="1"/>
          </p:cNvSpPr>
          <p:nvPr>
            <p:ph type="subTitle" idx="13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7" name="Google Shape;1227;p27"/>
          <p:cNvSpPr txBox="1">
            <a:spLocks noGrp="1"/>
          </p:cNvSpPr>
          <p:nvPr>
            <p:ph type="subTitle" idx="14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8" name="Google Shape;1228;p27"/>
          <p:cNvSpPr txBox="1">
            <a:spLocks noGrp="1"/>
          </p:cNvSpPr>
          <p:nvPr>
            <p:ph type="subTitle" idx="15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>
            <a:spLocks noGrp="1"/>
          </p:cNvSpPr>
          <p:nvPr>
            <p:ph type="title" hasCustomPrompt="1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>
            <a:spLocks noGrp="1"/>
          </p:cNvSpPr>
          <p:nvPr>
            <p:ph type="subTitle" idx="1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68" name="Google Shape;1268;p28"/>
          <p:cNvSpPr txBox="1">
            <a:spLocks noGrp="1"/>
          </p:cNvSpPr>
          <p:nvPr>
            <p:ph type="title" idx="2" hasCustomPrompt="1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>
            <a:spLocks noGrp="1"/>
          </p:cNvSpPr>
          <p:nvPr>
            <p:ph type="subTitle" idx="3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70" name="Google Shape;1270;p28"/>
          <p:cNvSpPr txBox="1">
            <a:spLocks noGrp="1"/>
          </p:cNvSpPr>
          <p:nvPr>
            <p:ph type="title" idx="4" hasCustomPrompt="1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>
            <a:spLocks noGrp="1"/>
          </p:cNvSpPr>
          <p:nvPr>
            <p:ph type="subTitle" idx="5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9"/>
          <p:cNvSpPr txBox="1">
            <a:spLocks noGrp="1"/>
          </p:cNvSpPr>
          <p:nvPr>
            <p:ph type="subTitle" idx="1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2" name="Google Shape;1282;p29"/>
          <p:cNvSpPr txBox="1">
            <a:spLocks noGrp="1"/>
          </p:cNvSpPr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83" name="Google Shape;1283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284" name="Google Shape;1284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285" name="Google Shape;1285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7" name="Google Shape;1287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288" name="Google Shape;1288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9" name="Google Shape;1289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0" name="Google Shape;1290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91" name="Google Shape;1291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2" name="Google Shape;1292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3" name="Google Shape;1293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4" name="Google Shape;1294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5" name="Google Shape;1295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96" name="Google Shape;1296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7" name="Google Shape;1297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298" name="Google Shape;1298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2" name="Google Shape;1302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03" name="Google Shape;130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4" name="Google Shape;130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05" name="Google Shape;130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6" name="Google Shape;130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7" name="Google Shape;130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8" name="Google Shape;130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9" name="Google Shape;130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0" name="Google Shape;131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11" name="Google Shape;131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2" name="Google Shape;1312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13" name="Google Shape;131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15" name="Google Shape;131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6" name="Google Shape;131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7" name="Google Shape;131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21" name="Google Shape;132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2" name="Google Shape;1322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23" name="Google Shape;1323;p2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4" name="Google Shape;1324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25" name="Google Shape;1325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9" name="Google Shape;1329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30" name="Google Shape;1330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1" name="Google Shape;1331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2" name="Google Shape;1332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3" name="Google Shape;1333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34" name="Google Shape;1334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5" name="Google Shape;1335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6" name="Google Shape;1336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337" name="Google Shape;1337;p29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4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3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22" name="Google Shape;1422;p3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60" y="1371600"/>
            <a:ext cx="5598000" cy="1846705"/>
          </a:xfrm>
        </p:spPr>
        <p:txBody>
          <a:bodyPr/>
          <a:lstStyle/>
          <a:p>
            <a:r>
              <a:rPr lang="en-IN" sz="3600" dirty="0">
                <a:latin typeface="Bell MT" panose="02020503060305020303" pitchFamily="18" charset="0"/>
              </a:rPr>
              <a:t>CFO </a:t>
            </a:r>
            <a:r>
              <a:rPr lang="en-IN" sz="4000" dirty="0">
                <a:latin typeface="Bell MT" panose="02020503060305020303" pitchFamily="18" charset="0"/>
              </a:rPr>
              <a:t>HELPER</a:t>
            </a:r>
            <a:br>
              <a:rPr lang="en-IN" sz="3200" dirty="0">
                <a:latin typeface="Bell MT" panose="02020503060305020303" pitchFamily="18" charset="0"/>
              </a:rPr>
            </a:br>
            <a:r>
              <a:rPr lang="en-IN" sz="3200" dirty="0">
                <a:latin typeface="Bell MT" panose="02020503060305020303" pitchFamily="18" charset="0"/>
              </a:rPr>
              <a:t>	-</a:t>
            </a:r>
            <a:r>
              <a:rPr sz="1400" dirty="0">
                <a:latin typeface="Bell MT" panose="02020503060305020303" pitchFamily="18" charset="0"/>
              </a:rPr>
              <a:t>Smart Financial Scenario Simulator</a:t>
            </a:r>
            <a:endParaRPr sz="3200" dirty="0">
              <a:latin typeface="Bell MT" panose="020205030603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99960" y="3784753"/>
            <a:ext cx="5598000" cy="4578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FINANCIAL DECISIONS SIMPLE AND VISUAL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</a:t>
            </a:r>
            <a:r>
              <a:rPr lang="en-IN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VORTEX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r>
              <a:rPr lang="en-IN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b5952ed8</a:t>
            </a:r>
            <a:endParaRPr sz="16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8B190B-748D-3DEC-1D12-D739696B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40" y="347352"/>
            <a:ext cx="3924300" cy="3263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120" y="475095"/>
            <a:ext cx="5598000" cy="841800"/>
          </a:xfrm>
        </p:spPr>
        <p:txBody>
          <a:bodyPr/>
          <a:lstStyle/>
          <a:p>
            <a:r>
              <a:rPr sz="3200" dirty="0">
                <a:latin typeface="Bell MT" panose="02020503060305020303" pitchFamily="18" charset="0"/>
              </a:rPr>
              <a:t>Problem Statement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48600" y="1040133"/>
            <a:ext cx="7524840" cy="457800"/>
          </a:xfrm>
        </p:spPr>
        <p:txBody>
          <a:bodyPr/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Startups and small teams struggle with managing budgets.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Excel sheets don’t give clear “what if” answers.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Decisions like hiring, marketing spend, or pricing changes are guesswork.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Need: A tool that shows financial outcomes instantly.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7C086-E2A1-8EF6-85ED-3EA3314E588E}"/>
              </a:ext>
            </a:extLst>
          </p:cNvPr>
          <p:cNvSpPr txBox="1"/>
          <p:nvPr/>
        </p:nvSpPr>
        <p:spPr>
          <a:xfrm>
            <a:off x="455160" y="2460940"/>
            <a:ext cx="3486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questions: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“If I hire 2 more engineers, can I survive 6 months?”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“If I spend ₹10,000 extra on marketing, what’s left for prizes?”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“If I increase product price by 10%, what happens to profit?”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09F5E4-A29E-FA09-E730-7A910A61B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080" y="2163760"/>
            <a:ext cx="4714920" cy="260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980" y="945975"/>
            <a:ext cx="3166200" cy="841800"/>
          </a:xfrm>
        </p:spPr>
        <p:txBody>
          <a:bodyPr/>
          <a:lstStyle/>
          <a:p>
            <a:r>
              <a:rPr sz="3200" dirty="0">
                <a:latin typeface="Bell MT" panose="02020503060305020303" pitchFamily="18" charset="0"/>
              </a:rPr>
              <a:t>Our Solution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51420" y="1787775"/>
            <a:ext cx="3402420" cy="2847215"/>
          </a:xfrm>
        </p:spPr>
        <p:txBody>
          <a:bodyPr/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CFO Helper Agent: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Simple UI with sliders for spending, hiring, pricing.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Instantly shows budget impact with charts.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Generates sharable financial scenario reports.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Updates forecasts when new financial data arrives.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5B767F-5C9F-85BC-7B29-1A22FE0EAC19}"/>
              </a:ext>
            </a:extLst>
          </p:cNvPr>
          <p:cNvSpPr txBox="1">
            <a:spLocks/>
          </p:cNvSpPr>
          <p:nvPr/>
        </p:nvSpPr>
        <p:spPr>
          <a:xfrm>
            <a:off x="4661581" y="879175"/>
            <a:ext cx="3166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5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36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36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36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36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36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36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36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BM Plex Mono"/>
              <a:buNone/>
              <a:defRPr sz="36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en-IN" sz="3200" dirty="0">
                <a:latin typeface="Bell MT" panose="02020503060305020303" pitchFamily="18" charset="0"/>
              </a:rPr>
              <a:t>Demo 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799C4-12BD-7AFA-6AB3-5792FE0142D2}"/>
              </a:ext>
            </a:extLst>
          </p:cNvPr>
          <p:cNvSpPr txBox="1"/>
          <p:nvPr/>
        </p:nvSpPr>
        <p:spPr>
          <a:xfrm>
            <a:off x="4939801" y="1787775"/>
            <a:ext cx="35527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budget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runway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months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“hire x engineers”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runway drops to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M-N months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spend by ₹ X,X0,000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cash buffer shrinks further.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price by P%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profit improves, runway extends.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Export/share report → counts as N credit usage.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600" y="1117106"/>
            <a:ext cx="5063580" cy="841800"/>
          </a:xfrm>
        </p:spPr>
        <p:txBody>
          <a:bodyPr/>
          <a:lstStyle/>
          <a:p>
            <a:r>
              <a:rPr sz="3200" dirty="0">
                <a:latin typeface="Bell MT" panose="02020503060305020303" pitchFamily="18" charset="0"/>
              </a:rPr>
              <a:t>Key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E4EDC-C961-617F-0DFF-056E4CFFB8F8}"/>
              </a:ext>
            </a:extLst>
          </p:cNvPr>
          <p:cNvSpPr txBox="1"/>
          <p:nvPr/>
        </p:nvSpPr>
        <p:spPr>
          <a:xfrm>
            <a:off x="1104900" y="1958906"/>
            <a:ext cx="6667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🎚️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Scenario Simulation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Adjust hiring, spending, pricing.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Forecasts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Clear charts for budget &amp; runway.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🔮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What-If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different outcomes instantly.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📑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 Export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Shareable summaries in one click.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⏱️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Usage Tracking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Credits per simulation/report.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🔄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Data Updates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Auto-refresh with Pathway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640" y="722965"/>
            <a:ext cx="5598000" cy="841800"/>
          </a:xfrm>
        </p:spPr>
        <p:txBody>
          <a:bodyPr/>
          <a:lstStyle/>
          <a:p>
            <a:r>
              <a:rPr sz="3200" dirty="0">
                <a:latin typeface="Bell MT" panose="02020503060305020303" pitchFamily="18" charset="0"/>
              </a:rPr>
              <a:t>Implementation &amp; Demo Plan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74280" y="1450165"/>
            <a:ext cx="7555320" cy="457800"/>
          </a:xfrm>
        </p:spPr>
        <p:txBody>
          <a:bodyPr/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→ Frontend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Build UI with sliders (hiring, spending, pricing) + charts for budget/runway.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→ Backend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handles scenario logic and calculations.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→ Integrations </a:t>
            </a:r>
            <a:b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Flexprice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track credits per simulation/report.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Pathway → pull live/mock financial data.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→ Demo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budget =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months runway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*Hire 2 engineers →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drops to 7 months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*Extra ₹10,000 marketing →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cash reduces further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*Price +10% →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runway improves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*Export report →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credit used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341" y="452645"/>
            <a:ext cx="7704000" cy="572700"/>
          </a:xfrm>
        </p:spPr>
        <p:txBody>
          <a:bodyPr/>
          <a:lstStyle/>
          <a:p>
            <a:r>
              <a:rPr sz="3200" dirty="0">
                <a:latin typeface="Bell MT" panose="02020503060305020303" pitchFamily="18" charset="0"/>
              </a:rPr>
              <a:t>Implementation Flow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5DB50428-9B73-2623-07D5-1B42ED985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43" y="1318571"/>
            <a:ext cx="8502316" cy="31480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35240" y="709470"/>
            <a:ext cx="5650320" cy="2879550"/>
          </a:xfrm>
        </p:spPr>
        <p:txBody>
          <a:bodyPr/>
          <a:lstStyle/>
          <a:p>
            <a:r>
              <a:rPr lang="en-IN" sz="1800" dirty="0">
                <a:latin typeface="Bell MT" panose="02020503060305020303" pitchFamily="18" charset="0"/>
                <a:cs typeface="Times New Roman" panose="02020603050405020304" pitchFamily="18" charset="0"/>
              </a:rPr>
              <a:t>Team Details – Vortex | </a:t>
            </a:r>
            <a:r>
              <a:rPr lang="en-IN" sz="1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b5952ed8</a:t>
            </a:r>
            <a:br>
              <a:rPr lang="en-IN" sz="1800" dirty="0">
                <a:latin typeface="Bell MT" panose="02020503060305020303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Bell MT" panose="02020503060305020303" pitchFamily="18" charset="0"/>
                <a:cs typeface="Times New Roman" panose="02020603050405020304" pitchFamily="18" charset="0"/>
              </a:rPr>
            </a:b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MOHAMMED JUNAID  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400" b="0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📧</a:t>
            </a:r>
            <a:r>
              <a:rPr lang="en-IN" sz="1400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0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smjunaid.dev@gmail.com</a:t>
            </a:r>
            <a:br>
              <a:rPr lang="en-IN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PATHAN MUBASSHIR KHAN 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400" b="0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📧 mubasshirkhan_pathan@srmap.edu.in</a:t>
            </a:r>
            <a:br>
              <a:rPr lang="en-IN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PULICHINTHALA RANGANATH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400" b="0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📧</a:t>
            </a:r>
            <a:r>
              <a:rPr lang="en-IN" sz="1400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0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ranganath_pulichinthala@srmap.edu.in</a:t>
            </a:r>
            <a:br>
              <a:rPr lang="en-IN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RITWIK PARAMESH 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400" b="0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📧 ritwikparamesh4959@gmail.com</a:t>
            </a:r>
            <a:endParaRPr lang="en-IN" sz="1000" b="0" dirty="0">
              <a:solidFill>
                <a:schemeClr val="tx1"/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B927F-FBE0-B039-F34D-536F00A78697}"/>
              </a:ext>
            </a:extLst>
          </p:cNvPr>
          <p:cNvSpPr txBox="1"/>
          <p:nvPr/>
        </p:nvSpPr>
        <p:spPr>
          <a:xfrm>
            <a:off x="-236220" y="4096220"/>
            <a:ext cx="97459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✨ </a:t>
            </a:r>
            <a:r>
              <a:rPr lang="en-US" sz="1200" i="1" dirty="0"/>
              <a:t>Blending Tech, Finance, and Design to make smarter decisions simple.</a:t>
            </a:r>
            <a:endParaRPr lang="en-I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481</Words>
  <Application>Microsoft Office PowerPoint</Application>
  <PresentationFormat>On-screen Show (16:9)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Open Sans</vt:lpstr>
      <vt:lpstr>Source Code Pro</vt:lpstr>
      <vt:lpstr>PT Sans</vt:lpstr>
      <vt:lpstr>Bell MT</vt:lpstr>
      <vt:lpstr>Times New Roman</vt:lpstr>
      <vt:lpstr>Poppins</vt:lpstr>
      <vt:lpstr>Arial</vt:lpstr>
      <vt:lpstr>IBM Plex Mono</vt:lpstr>
      <vt:lpstr>Proxima Nova</vt:lpstr>
      <vt:lpstr>Roboto Condensed Light</vt:lpstr>
      <vt:lpstr>Introduction to Coding Workshop by Slidesgo</vt:lpstr>
      <vt:lpstr>Slidesgo Final Pages</vt:lpstr>
      <vt:lpstr>CFO HELPER  -Smart Financial Scenario Simulator</vt:lpstr>
      <vt:lpstr>Problem Statement</vt:lpstr>
      <vt:lpstr>Our Solution</vt:lpstr>
      <vt:lpstr>Key Features</vt:lpstr>
      <vt:lpstr>Implementation &amp; Demo Plan</vt:lpstr>
      <vt:lpstr>Implementation Flow</vt:lpstr>
      <vt:lpstr>Team Details – Vortex | b5952ed8   SHAIK MOHAMMED JUNAID    📧 smjunaid.dev@gmail.com PATHAN MUBASSHIR KHAN   📧 mubasshirkhan_pathan@srmap.edu.in PULICHINTHALA RANGANATH  📧 ranganath_pulichinthala@srmap.edu.in RITWIK PARAMESH   📧 ritwikparamesh4959@gmail.com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 Junaid Shaik.</dc:creator>
  <cp:lastModifiedBy>Mohammed Junaid Shaik.</cp:lastModifiedBy>
  <cp:revision>2</cp:revision>
  <dcterms:modified xsi:type="dcterms:W3CDTF">2025-09-22T10:23:28Z</dcterms:modified>
</cp:coreProperties>
</file>